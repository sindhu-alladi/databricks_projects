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9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05840"/>
            <a:ext cx="1005840" cy="9099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91440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Data Pipeline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920240" y="17830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Architecture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920240" y="2423160"/>
            <a:ext cx="50292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920240" y="260604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 →  Pentaho ETL  →  Data Lake  →  Databricks Medallion  →  Hospital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20240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920240" y="3291840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MySQL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39700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183474" y="3291840"/>
            <a:ext cx="12280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Pentaho Spoon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329184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44568" y="3298001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Databricks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14611" y="3276745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028090">
              <a:alpha val="45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70837" y="3275902"/>
            <a:ext cx="11155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Git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PIPELINE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PIPELINE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Data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1554480" cy="1417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783080" y="2029968"/>
            <a:ext cx="457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130552" y="19385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1325880"/>
            <a:ext cx="1554480" cy="1417320"/>
          </a:xfrm>
          <a:prstGeom prst="rect">
            <a:avLst/>
          </a:prstGeom>
          <a:solidFill>
            <a:srgbClr val="3A7CA5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Pentaho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ETL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66160" y="2029968"/>
            <a:ext cx="457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913632" y="19385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94760" y="1325880"/>
            <a:ext cx="1554480" cy="1417320"/>
          </a:xfrm>
          <a:prstGeom prst="rect">
            <a:avLst/>
          </a:prstGeom>
          <a:solidFill>
            <a:srgbClr val="B07D2D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4173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9476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Lake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49240" y="2029968"/>
            <a:ext cx="457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5696712" y="19385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577840" y="1325880"/>
            <a:ext cx="1554480" cy="1417320"/>
          </a:xfrm>
          <a:prstGeom prst="rect">
            <a:avLst/>
          </a:prstGeom>
          <a:solidFill>
            <a:srgbClr val="6E44B5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41732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Databricks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Lakehouse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132320" y="2029968"/>
            <a:ext cx="4572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7479792" y="193852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60920" y="1325880"/>
            <a:ext cx="1554480" cy="1417320"/>
          </a:xfrm>
          <a:prstGeom prst="rect">
            <a:avLst/>
          </a:prstGeom>
          <a:solidFill>
            <a:srgbClr val="1A7A4A"/>
          </a:solidFill>
          <a:ln w="6350">
            <a:solidFill>
              <a:srgbClr val="FFFFFF">
                <a:alpha val="3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4173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1938528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Hospital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22860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① Source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201168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② Ingest &amp; Transform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79476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③ Store (Files)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57784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④ Medallion Lakehouse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360920" y="2834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B8"/>
                </a:solidFill>
              </a:rPr>
              <a:t>⑤ Analytics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228600" y="3291840"/>
            <a:ext cx="8686800" cy="27432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228600" y="338328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ABB8"/>
                </a:solidFill>
              </a:rPr>
              <a:t>Data flows from operational MySQL tables through ETL processing, lands in a data lake as CSV files, then gets refined through Databricks Medallion layers into actionable hospital analytics.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① SOURCE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Hospital Operational Database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6070"/>
                </a:solidFill>
              </a:rPr>
              <a:t>MySQL – Transactional source system storing day-to-day hospital operations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Patients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" y="21488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patient_id (PK)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26060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name, dob, gender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" y="30632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contact details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35204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insurance info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160020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468880" y="16002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6888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🩺  Doctors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42032" y="21488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606040" y="21488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doctor_id (PK)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26060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60604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name, specialty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42032" y="30632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60604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department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35204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606040" y="35204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availability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60020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17720" y="16002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1772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Appointments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90872" y="21488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21488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appt_id (PK)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26060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patient_id (FK)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90872" y="30632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5488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doctor_id (FK)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35204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5204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date, status, notes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160020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766560" y="16002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76656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💳  Billing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39712" y="21488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03720" y="21488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bill_id (PK)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39712" y="26060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03720" y="26060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patient_id (FK)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39712" y="3063240"/>
            <a:ext cx="1865376" cy="384048"/>
          </a:xfrm>
          <a:prstGeom prst="rect">
            <a:avLst/>
          </a:prstGeom>
          <a:solidFill>
            <a:srgbClr val="F5FAFB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903720" y="30632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amount, status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39712" y="3520440"/>
            <a:ext cx="186537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903720" y="352044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payment method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② DATA INGESTION – PENTAHO ETL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Pentaho Data Integration (Spoon)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BB8"/>
                </a:solidFill>
              </a:rPr>
              <a:t>Four-stage transformation pipeline executed by the Spoon.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5087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201168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011680" cy="50292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Extract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2560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BB8"/>
                </a:solidFill>
              </a:rPr>
              <a:t>Pull from MySQL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852928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JDBC connection to MySQL.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full load via timestamp.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50008" y="306324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640080" cy="64008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154680" y="1508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68880" y="2240280"/>
            <a:ext cx="201168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468880" y="2240280"/>
            <a:ext cx="2011680" cy="502920"/>
          </a:xfrm>
          <a:prstGeom prst="rect">
            <a:avLst/>
          </a:prstGeom>
          <a:solidFill>
            <a:srgbClr val="3A7CA5">
              <a:alpha val="80000"/>
            </a:srgbClr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6888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Clean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68880" y="2560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BB8"/>
                </a:solidFill>
              </a:rPr>
              <a:t>Data quality checks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78608" y="2852928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Remove nulls &amp; duplicates.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Standardise date formats.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Validate referential keys.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98848" y="306324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03520" y="1508760"/>
            <a:ext cx="640080" cy="640080"/>
          </a:xfrm>
          <a:prstGeom prst="ellipse">
            <a:avLst/>
          </a:prstGeom>
          <a:solidFill>
            <a:srgbClr val="6E44B5"/>
          </a:solidFill>
          <a:ln w="12700">
            <a:solidFill>
              <a:srgbClr val="6E44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0" y="1508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17720" y="2240280"/>
            <a:ext cx="201168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6E44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17720" y="2240280"/>
            <a:ext cx="2011680" cy="502920"/>
          </a:xfrm>
          <a:prstGeom prst="rect">
            <a:avLst/>
          </a:prstGeom>
          <a:solidFill>
            <a:srgbClr val="6E44B5">
              <a:alpha val="80000"/>
            </a:srgbClr>
          </a:solidFill>
          <a:ln w="12700">
            <a:solidFill>
              <a:srgbClr val="6E44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1772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Transform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2560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BB8"/>
                </a:solidFill>
              </a:rPr>
              <a:t>Business logic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7448" y="2852928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Derive calculated fields.</a:t>
            </a:r>
            <a:endParaRPr lang="en-US" sz="1050" dirty="0"/>
          </a:p>
          <a:p>
            <a:pPr marL="0" indent="0">
              <a:buNone/>
            </a:pPr>
            <a:r>
              <a:rPr lang="en-US" altLang="en-US" sz="1050" dirty="0">
                <a:solidFill>
                  <a:srgbClr val="E8F4F8"/>
                </a:solidFill>
              </a:rPr>
              <a:t>Fill in the missing details by connecting related tables.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Normalise code values.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47688" y="306324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452360" y="1508760"/>
            <a:ext cx="640080" cy="6400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452360" y="1508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766560" y="2240280"/>
            <a:ext cx="201168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766560" y="2240280"/>
            <a:ext cx="2011680" cy="502920"/>
          </a:xfrm>
          <a:prstGeom prst="rect">
            <a:avLst/>
          </a:prstGeom>
          <a:solidFill>
            <a:srgbClr val="1A7A4A">
              <a:alpha val="8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766560" y="2240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66560" y="25603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ABB8"/>
                </a:solidFill>
              </a:rPr>
              <a:t>Final gate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76288" y="2852928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Reject file for bad rows.</a:t>
            </a:r>
          </a:p>
          <a:p>
            <a:pPr marL="0" indent="0">
              <a:buNone/>
            </a:pPr>
            <a:r>
              <a:rPr lang="en-US" altLang="en-US" sz="1050" dirty="0">
                <a:solidFill>
                  <a:schemeClr val="bg1"/>
                </a:solidFill>
              </a:rPr>
              <a:t>Data Quality Checks.</a:t>
            </a:r>
            <a:endParaRPr lang="en-US" alt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Output: CSV files written to the data lake landing zone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B07D2D"/>
          </a:solidFill>
          <a:ln w="12700">
            <a:solidFill>
              <a:srgbClr val="B07D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③ DATA LAKE STORAGE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File-Based Landing Zone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6070"/>
                </a:solidFill>
              </a:rPr>
              <a:t>Pentaho exports structured files into a date-partitioned folder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749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7490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 /hospital_data_lake/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📂  raw/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67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📂  patients/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5420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📄  2024-01-01_patients.csv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8163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📄  2024-01-02_patients.csv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09067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📂  appointments/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36499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📄  appointments.csv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📂  billing/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07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📄  billing.csv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508760"/>
            <a:ext cx="21945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8E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0" y="1508760"/>
            <a:ext cx="2194560" cy="45720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480560" y="15087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📄  CSV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✅ Pros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331720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Human readable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58775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Easy to debug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84378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Wide tool support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20954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4A1A"/>
                </a:solidFill>
              </a:rPr>
              <a:t>⚠ Cons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348386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Larger file 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373989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</a:rPr>
              <a:t>• No schema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84378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E44B5"/>
          </a:solidFill>
          <a:ln w="12700">
            <a:solidFill>
              <a:srgbClr val="6E44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④ DATABRICKS LAKEHOUSE – MEDALLION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Medallion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BB8"/>
                </a:solidFill>
              </a:rPr>
              <a:t>Progressive data refinement through three quality layers — Bronze → Silver → Gold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97480" cy="2543175"/>
          </a:xfrm>
          <a:prstGeom prst="rect">
            <a:avLst/>
          </a:prstGeom>
          <a:solidFill>
            <a:srgbClr val="122040"/>
          </a:solidFill>
          <a:ln w="19050">
            <a:solidFill>
              <a:srgbClr val="CD7F32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697480" cy="5943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🥉  Bronze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D7F32"/>
                </a:solidFill>
              </a:rPr>
              <a:t>Raw Ingestion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1945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21945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Append-only Delta tables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6517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" y="26517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</a:t>
            </a:r>
            <a:r>
              <a:rPr lang="en-US" altLang="en-US" sz="1050" dirty="0">
                <a:solidFill>
                  <a:schemeClr val="bg1"/>
                </a:solidFill>
              </a:rPr>
              <a:t>Saves data as-is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" y="31089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1089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No transformations applied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633" y="3493135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302" y="35661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Timestamped partition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3090672"/>
            <a:ext cx="5029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37560" y="2999232"/>
            <a:ext cx="1554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508760"/>
            <a:ext cx="2697480" cy="2566035"/>
          </a:xfrm>
          <a:prstGeom prst="rect">
            <a:avLst/>
          </a:prstGeom>
          <a:solidFill>
            <a:srgbClr val="122040"/>
          </a:solidFill>
          <a:ln w="19050">
            <a:solidFill>
              <a:srgbClr val="A8B2C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0" y="1508760"/>
            <a:ext cx="2697480" cy="5943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0" y="1508760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🥈  Silver 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185623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B2C0"/>
                </a:solidFill>
              </a:rPr>
              <a:t>Cleaned &amp; Validated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21945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64992" y="21945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De-duplicated records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0128" y="26517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64992" y="26517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Schema enforced (DDL)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0128" y="31089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64992" y="31089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Null/outlier handling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35661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364992" y="35661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Standardised data types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97880" y="3090672"/>
            <a:ext cx="5029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63640" y="2999232"/>
            <a:ext cx="1554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1508760"/>
            <a:ext cx="2697480" cy="3154680"/>
          </a:xfrm>
          <a:prstGeom prst="rect">
            <a:avLst/>
          </a:prstGeom>
          <a:solidFill>
            <a:srgbClr val="122040"/>
          </a:solidFill>
          <a:ln w="19050">
            <a:solidFill>
              <a:srgbClr val="FFD70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126480" y="1508760"/>
            <a:ext cx="269748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126480" y="1508760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🥇  Gold Layer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126480" y="185623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700"/>
                </a:solidFill>
              </a:rPr>
              <a:t>Aggregated Analytics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36208" y="21945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91072" y="21945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aggregation tables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36208" y="26517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291072" y="26517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Patient outcome metrics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36208" y="31089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291072" y="31089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Revenue &amp; billing reports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36208" y="3566160"/>
            <a:ext cx="2478024" cy="384048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291072" y="35661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Optimised for BI tools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36208" y="4023360"/>
            <a:ext cx="2478024" cy="384048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291072" y="40233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✓  Served to dashboards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④A  BRONZE LAYER – RAW DATA INGESTION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</a:rPr>
              <a:t>🥉  Bronze Layer — Ingesting Raw Hospital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049260" cy="749935"/>
          </a:xfrm>
          <a:prstGeom prst="rect">
            <a:avLst/>
          </a:prstGeom>
          <a:solidFill>
            <a:srgbClr val="FFFFFF"/>
          </a:solidFill>
          <a:ln w="9525">
            <a:solidFill>
              <a:srgbClr val="D4A96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029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Direct ingest from 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6070"/>
                </a:solidFill>
              </a:rPr>
              <a:t>Databricks Auto Loader reads from the data lake landing folder.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30095"/>
            <a:ext cx="8021320" cy="749935"/>
          </a:xfrm>
          <a:prstGeom prst="rect">
            <a:avLst/>
          </a:prstGeom>
          <a:solidFill>
            <a:srgbClr val="FFFFFF"/>
          </a:solidFill>
          <a:ln w="9525">
            <a:solidFill>
              <a:srgbClr val="D4A96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5029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2029968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07568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Append-only — never overwrite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3317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6070"/>
                </a:solidFill>
              </a:rPr>
              <a:t>All source records are preserved. Reprocessing is safe as source remains unchanged.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71470"/>
            <a:ext cx="8012430" cy="749935"/>
          </a:xfrm>
          <a:prstGeom prst="rect">
            <a:avLst/>
          </a:prstGeom>
          <a:solidFill>
            <a:srgbClr val="FFFFFF"/>
          </a:solidFill>
          <a:ln w="9525">
            <a:solidFill>
              <a:srgbClr val="D4A96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5029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871216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Timestamp &amp; metadata columns added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17296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6070"/>
                </a:solidFill>
              </a:rPr>
              <a:t>ingestion_timestamp, source_file, and batch_id columns are added automatically.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12210"/>
            <a:ext cx="8003540" cy="749935"/>
          </a:xfrm>
          <a:prstGeom prst="rect">
            <a:avLst/>
          </a:prstGeom>
          <a:solidFill>
            <a:srgbClr val="FFFFFF"/>
          </a:solidFill>
          <a:ln w="9525">
            <a:solidFill>
              <a:srgbClr val="D4A96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712464"/>
            <a:ext cx="5029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712464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75818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Delta format with checkpointing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01421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6070"/>
                </a:solidFill>
              </a:rPr>
              <a:t>Delta Lake checkpointing tracks processed files, enabling exactly-once semantics.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2377440"/>
            <a:ext cx="32918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2999232"/>
            <a:ext cx="329184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④B  SILVER LAYER – CLEANED &amp; VALIDATED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🥈  Silver Layer — Data Quality &amp; Standardisation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5087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De-duplication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105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ROW_NUMBER() window function removes duplicate patient records by composite key.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4173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18688" y="14173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18688" y="14173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Null 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18105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Mandatory fields (patient_id, date) rejected if null; logged to error table.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4173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63056" y="14173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63056" y="14173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93408" y="15087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Schema enforcement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93408" y="18105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Delta CONSTRAINT clauses enforce column types and not-null rules at write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27889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" y="2880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Date standardisation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1821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All dates normalised to ISO-8601 (YYYY-MM-DD) using to_date() transforms.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7889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18688" y="27889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18688" y="27889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2880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Referential integrity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1821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FK lookups validate that appointment patient_id exists in the silver patients table.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2788920"/>
            <a:ext cx="2743200" cy="1234440"/>
          </a:xfrm>
          <a:prstGeom prst="rect">
            <a:avLst/>
          </a:prstGeom>
          <a:solidFill>
            <a:srgbClr val="122040"/>
          </a:solidFill>
          <a:ln w="9525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63056" y="2788920"/>
            <a:ext cx="457200" cy="1234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63056" y="278892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93408" y="288036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8"/>
                </a:solidFill>
              </a:rPr>
              <a:t>Audit logging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93408" y="3182112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Row counts before and after each transform written to an audit Delta table.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</a:rPr>
              <a:t>📌  Silver tables are the trusted single source of truth used by analytics, ML models, and downstream Gold layer jobs.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④C  GOLD LAYER – AGGREGATED ANALYTICS TABLES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3E"/>
                </a:solidFill>
              </a:rPr>
              <a:t>🥇  Gold Layer — Business Intelligence Ready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6070"/>
                </a:solidFill>
              </a:rPr>
              <a:t>Aggregated tables optimised for dashboards, reports, and hospital leadership insights</a:t>
            </a:r>
            <a:endParaRPr lang="en-US" sz="12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7432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74320" y="1463040"/>
            <a:ext cx="4114800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  gold.daily_admissions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411480" y="19202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</a:rPr>
              <a:t>Columns: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411480" y="214884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admission_date   •   total_patients    •   avg_stay_days</a:t>
            </a:r>
            <a:endParaRPr lang="en-US" sz="10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470916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4709160" y="1463040"/>
            <a:ext cx="4114800" cy="411480"/>
          </a:xfrm>
          <a:prstGeom prst="rect">
            <a:avLst/>
          </a:prstGeom>
          <a:solidFill>
            <a:srgbClr val="C07A1A"/>
          </a:solidFill>
          <a:ln w="12700">
            <a:solidFill>
              <a:srgbClr val="C07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09160" y="146304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  gold.billing_summary</a:t>
            </a:r>
            <a:endParaRPr lang="en-US" sz="11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4846320" y="19202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</a:rPr>
              <a:t>Columns:</a:t>
            </a:r>
            <a:endParaRPr lang="en-US" sz="100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4846320" y="214884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billing_month   •   total_revenue   •   pending_amount   •   collection_rate</a:t>
            </a:r>
            <a:endParaRPr lang="en-US" sz="1000" dirty="0"/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274320" y="29718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280670" y="2971800"/>
            <a:ext cx="4114800" cy="411480"/>
          </a:xfrm>
          <a:prstGeom prst="rect">
            <a:avLst/>
          </a:prstGeom>
          <a:solidFill>
            <a:srgbClr val="9A5810"/>
          </a:solidFill>
          <a:ln w="12700">
            <a:solidFill>
              <a:srgbClr val="9A5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  gold.doctor</a:t>
            </a:r>
            <a:endParaRPr lang="en-US" sz="1100" dirty="0"/>
          </a:p>
        </p:txBody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411480" y="34290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</a:rPr>
              <a:t>Columns:</a:t>
            </a:r>
            <a:endParaRPr lang="en-US" sz="1000" dirty="0"/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411480" y="365760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doctor_id   •   monthly_appts   •   avg_rating   •   dept_revenue</a:t>
            </a:r>
            <a:endParaRPr lang="en-US" sz="1000" dirty="0"/>
          </a:p>
        </p:txBody>
      </p:sp>
      <p:sp>
        <p:nvSpPr>
          <p:cNvPr id="21" name="Shape 19"/>
          <p:cNvSpPr/>
          <p:nvPr>
            <p:custDataLst>
              <p:tags r:id="rId13"/>
            </p:custDataLst>
          </p:nvPr>
        </p:nvSpPr>
        <p:spPr>
          <a:xfrm>
            <a:off x="4709160" y="29718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96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>
            <p:custDataLst>
              <p:tags r:id="rId14"/>
            </p:custDataLst>
          </p:nvPr>
        </p:nvSpPr>
        <p:spPr>
          <a:xfrm>
            <a:off x="4709160" y="2971800"/>
            <a:ext cx="4114800" cy="411480"/>
          </a:xfrm>
          <a:prstGeom prst="rect">
            <a:avLst/>
          </a:prstGeom>
          <a:solidFill>
            <a:srgbClr val="7A4E0A"/>
          </a:solidFill>
          <a:ln w="12700">
            <a:solidFill>
              <a:srgbClr val="7A4E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09160" y="2971800"/>
            <a:ext cx="4114800" cy="41148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  gold.patient_outcomes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4846320" y="34290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</a:rPr>
              <a:t>Columns:</a:t>
            </a:r>
            <a:endParaRPr lang="en-US" sz="1000" dirty="0"/>
          </a:p>
        </p:txBody>
      </p:sp>
      <p:sp>
        <p:nvSpPr>
          <p:cNvPr id="25" name="Text 23"/>
          <p:cNvSpPr/>
          <p:nvPr>
            <p:custDataLst>
              <p:tags r:id="rId16"/>
            </p:custDataLst>
          </p:nvPr>
        </p:nvSpPr>
        <p:spPr>
          <a:xfrm>
            <a:off x="4846320" y="365760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4A5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diagnosis_type   •   recovery_rate   •   readmission_rate 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54456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6914"/>
                </a:solidFill>
              </a:rPr>
              <a:t>🏥  These Gold tables are consumed directly by  dashboards and shared with hospital leadership for operational decisions.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⑤⑥  ORCHESTRATION &amp; VERSION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Automation, Scheduling &amp; Git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429000"/>
          </a:xfrm>
          <a:prstGeom prst="rect">
            <a:avLst/>
          </a:prstGeom>
          <a:solidFill>
            <a:srgbClr val="122040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⏰  Pentaho Job Orchestration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8288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810512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1. Scheduled 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29968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Cron-based schedule (e.g. daily 02:00 AM)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" y="2084832"/>
            <a:ext cx="0" cy="27432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" y="235915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340864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2. Run ETL transformation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Pentaho Job calls transformation steps (Extract → Validate)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" y="2615184"/>
            <a:ext cx="0" cy="27432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5488" y="288950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2871216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3. Export files to lake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09067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Write CSVto /hospital_data_lake/raw/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" y="3145536"/>
            <a:ext cx="0" cy="27432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" y="341985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340156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4. Trigger Databricks pipeline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621024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REST API call to Databricks Jobs API (Bronze→Silver→Gold)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" y="3675888"/>
            <a:ext cx="0" cy="27432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5488" y="395020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393192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5. Alert on failure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151376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Email/Slack notification if any step fails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234440"/>
            <a:ext cx="4206240" cy="3429000"/>
          </a:xfrm>
          <a:prstGeom prst="rect">
            <a:avLst/>
          </a:prstGeom>
          <a:solidFill>
            <a:srgbClr val="122040"/>
          </a:solidFill>
          <a:ln w="12700">
            <a:solidFill>
              <a:srgbClr val="6E44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solidFill>
            <a:srgbClr val="6E44B5"/>
          </a:solidFill>
          <a:ln w="12700">
            <a:solidFill>
              <a:srgbClr val="6E44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63440" y="1234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🌿  Git Version Control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1828800"/>
            <a:ext cx="393192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0" y="18288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1856232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Notebooks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07568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Databricks notebooks for Bronze/Silver/Gold processing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359152"/>
            <a:ext cx="3931920" cy="457200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46320" y="235915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238658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Configurations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60604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ETL configs, DB connection strings (secrets in Vault)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889504"/>
            <a:ext cx="393192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46320" y="288950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57800" y="291693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Pipeline code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7800" y="313639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Pentaho KTR/KJB files and Python transformation scripts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3419856"/>
            <a:ext cx="3931920" cy="457200"/>
          </a:xfrm>
          <a:prstGeom prst="rect">
            <a:avLst/>
          </a:prstGeom>
          <a:solidFill>
            <a:srgbClr val="122040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46320" y="341985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57800" y="344728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Unit tests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36667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pytest suites validating transformation logic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950208"/>
            <a:ext cx="393192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46320" y="395020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257800" y="397764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4F8"/>
                </a:solidFill>
              </a:rPr>
              <a:t>CI/CD pipeline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419709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BB8"/>
                </a:solidFill>
              </a:rPr>
              <a:t>GitHub Actions auto-deploys on merge to main branch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🏥  HOSPITAL INSIGHTS &amp; ANALYTICS 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the pipeline delivers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05510" y="1234440"/>
            <a:ext cx="2743200" cy="1280160"/>
          </a:xfrm>
          <a:prstGeom prst="rect">
            <a:avLst/>
          </a:prstGeom>
          <a:solidFill>
            <a:srgbClr val="122040"/>
          </a:solidFill>
          <a:ln w="12700">
            <a:solidFill>
              <a:srgbClr val="028090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05510" y="1234440"/>
            <a:ext cx="45720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05510" y="1234440"/>
            <a:ext cx="457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3995" y="1318895"/>
            <a:ext cx="210312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</a:rPr>
              <a:t>Daily Admission Reports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08557" y="16276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Admission trends by department, bed occupancy, and patient demographics updated every morning.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91963" y="1234440"/>
            <a:ext cx="2743200" cy="1280160"/>
          </a:xfrm>
          <a:prstGeom prst="rect">
            <a:avLst/>
          </a:prstGeom>
          <a:solidFill>
            <a:srgbClr val="122040"/>
          </a:solidFill>
          <a:ln w="12700">
            <a:solidFill>
              <a:srgbClr val="3A7CA5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303393" y="1234440"/>
            <a:ext cx="457200" cy="1280160"/>
          </a:xfrm>
          <a:prstGeom prst="rect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03393" y="1234440"/>
            <a:ext cx="457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56605" y="132588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</a:rPr>
              <a:t>Revenue Analytics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295" y="16276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Real-time billing dashboards tracking total revenue, collection rates, and outstanding invoices.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510" y="2651760"/>
            <a:ext cx="2743200" cy="1280160"/>
          </a:xfrm>
          <a:prstGeom prst="rect">
            <a:avLst/>
          </a:prstGeom>
          <a:solidFill>
            <a:srgbClr val="122040"/>
          </a:solidFill>
          <a:ln w="12700">
            <a:solidFill>
              <a:srgbClr val="C0443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05510" y="2651760"/>
            <a:ext cx="457200" cy="1280160"/>
          </a:xfrm>
          <a:prstGeom prst="rect">
            <a:avLst/>
          </a:prstGeom>
          <a:solidFill>
            <a:srgbClr val="C0443A"/>
          </a:solidFill>
          <a:ln w="12700">
            <a:solidFill>
              <a:srgbClr val="C04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05510" y="2651760"/>
            <a:ext cx="457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 ❤️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84122" y="275209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</a:rPr>
              <a:t>Patient Outcomes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08557" y="3117977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Readmission rates, length-of-stay trends, and recovery rate analysis by diagnosis category.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393" y="2700020"/>
            <a:ext cx="2743200" cy="1280160"/>
          </a:xfrm>
          <a:prstGeom prst="rect">
            <a:avLst/>
          </a:prstGeom>
          <a:solidFill>
            <a:srgbClr val="122040"/>
          </a:solidFill>
          <a:ln w="12700">
            <a:solidFill>
              <a:srgbClr val="1A7A4A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03393" y="2700020"/>
            <a:ext cx="457200" cy="12801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49113" y="2700020"/>
            <a:ext cx="457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06440" y="275209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8"/>
                </a:solidFill>
              </a:rPr>
              <a:t>Operational Efficiency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56605" y="3117977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</a:rPr>
              <a:t>Scheduling gaps, appointment cancellation rates, and resource utilisation reports.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71025"/>
          </a:solidFill>
          <a:ln w="12700">
            <a:solidFill>
              <a:srgbClr val="071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BB8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A896">
              <a:alpha val="6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19710" y="2077085"/>
            <a:ext cx="8849360" cy="36576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180" y="1887220"/>
            <a:ext cx="8277225" cy="745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Thank you 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BB8"/>
                </a:solidFill>
              </a:rPr>
              <a:t>Hospital Data Pipeline  |  End-to-End Architecture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96519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21.6,&quot;top&quot;:115.2,&quot;width&quot;:67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5075</TotalTime>
  <Words>1154</Words>
  <Application>Microsoft Office PowerPoint</Application>
  <PresentationFormat>On-screen Show 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Data Pipeline – End-to-End Architecture</dc:title>
  <dc:subject>PptxGenJS Presentation</dc:subject>
  <dc:creator>PptxGenJS</dc:creator>
  <cp:lastModifiedBy>Sindhu Alladi</cp:lastModifiedBy>
  <cp:revision>3</cp:revision>
  <dcterms:created xsi:type="dcterms:W3CDTF">2026-03-15T16:06:00Z</dcterms:created>
  <dcterms:modified xsi:type="dcterms:W3CDTF">2026-03-19T17:29:18Z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5CA72FFDAD6F48049811CF191DF8E110_12</vt:lpwstr>
  </property>
  <property fmtid="{D5CDD505-2E9C-101B-9397-08002B2CF9AE}" pid="3" name="KSOProductBuildVer">
    <vt:lpwstr>1033-12.2.0.23196</vt:lpwstr>
  </property>
</Properties>
</file>