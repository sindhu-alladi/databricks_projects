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3F0EB"/>
          </a:solidFill>
        </p:spPr>
      </p:sp>
      <p:sp>
        <p:nvSpPr>
          <p:cNvPr id="4" name="Shape 2"/>
          <p:cNvSpPr/>
          <p:nvPr/>
        </p:nvSpPr>
        <p:spPr>
          <a:xfrm>
            <a:off x="274320" y="640080"/>
            <a:ext cx="292608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138" y="74980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Week 1</a:t>
            </a:r>
            <a:endParaRPr lang="en-US" sz="16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2138" y="109728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Python &amp; HMS Setup</a:t>
            </a:r>
            <a:endParaRPr lang="en-US" sz="110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292608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353" y="202996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Week 2</a:t>
            </a:r>
            <a:endParaRPr lang="en-US" sz="16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2138" y="237744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Client + Pentaho + CSV</a:t>
            </a:r>
            <a:endParaRPr lang="en-US" sz="110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292608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353" y="331012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Week 3</a:t>
            </a:r>
            <a:endParaRPr lang="en-US" sz="16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353" y="36576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Databricks Layers</a:t>
            </a:r>
            <a:endParaRPr lang="en-US" sz="110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49040" y="73152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3-Week</a:t>
            </a:r>
            <a:endParaRPr lang="en-US" sz="42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49040" y="132588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B8EA5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Workflow Plan</a:t>
            </a:r>
            <a:endParaRPr lang="en-US" sz="4200" b="1" dirty="0">
              <a:solidFill>
                <a:srgbClr val="3B8EA5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49040" y="20574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HealthCareX · End-to-End Data Pipeline</a:t>
            </a:r>
            <a:endParaRPr lang="en-US" sz="1400" i="1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749040" y="2487168"/>
            <a:ext cx="4937760" cy="22860"/>
          </a:xfrm>
          <a:prstGeom prst="rect">
            <a:avLst/>
          </a:prstGeom>
          <a:solidFill>
            <a:srgbClr val="DDD8D0"/>
          </a:solidFill>
        </p:spPr>
      </p:sp>
      <p:sp>
        <p:nvSpPr>
          <p:cNvPr id="21" name="Shape 19"/>
          <p:cNvSpPr/>
          <p:nvPr/>
        </p:nvSpPr>
        <p:spPr>
          <a:xfrm>
            <a:off x="3749040" y="2715768"/>
            <a:ext cx="164592" cy="164592"/>
          </a:xfrm>
          <a:prstGeom prst="ellipse">
            <a:avLst/>
          </a:prstGeom>
          <a:solidFill>
            <a:srgbClr val="3B8EA5"/>
          </a:solidFill>
        </p:spPr>
      </p:sp>
      <p:sp>
        <p:nvSpPr>
          <p:cNvPr id="22" name="Text 20"/>
          <p:cNvSpPr/>
          <p:nvPr/>
        </p:nvSpPr>
        <p:spPr>
          <a:xfrm>
            <a:off x="4023360" y="2679192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Python code + HMS database ready by end of Week 1</a:t>
            </a:r>
            <a:endParaRPr lang="en-US" sz="1250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49040" y="3191256"/>
            <a:ext cx="164592" cy="164592"/>
          </a:xfrm>
          <a:prstGeom prst="ellipse">
            <a:avLst/>
          </a:prstGeom>
          <a:solidFill>
            <a:srgbClr val="3B8EA5"/>
          </a:solidFill>
        </p:spPr>
      </p:sp>
      <p:sp>
        <p:nvSpPr>
          <p:cNvPr id="24" name="Text 22"/>
          <p:cNvSpPr/>
          <p:nvPr/>
        </p:nvSpPr>
        <p:spPr>
          <a:xfrm>
            <a:off x="4023360" y="3154680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Client side (schema, data, views) completed by mid Week 2</a:t>
            </a:r>
            <a:endParaRPr lang="en-US" sz="1250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49040" y="3666744"/>
            <a:ext cx="164592" cy="164592"/>
          </a:xfrm>
          <a:prstGeom prst="ellipse">
            <a:avLst/>
          </a:prstGeom>
          <a:solidFill>
            <a:srgbClr val="3B8EA5"/>
          </a:solidFill>
        </p:spPr>
      </p:sp>
      <p:sp>
        <p:nvSpPr>
          <p:cNvPr id="26" name="Text 24"/>
          <p:cNvSpPr/>
          <p:nvPr/>
        </p:nvSpPr>
        <p:spPr>
          <a:xfrm>
            <a:off x="4023360" y="3630168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Pentaho job → CSV → Databricks upload in Week 2</a:t>
            </a:r>
            <a:endParaRPr lang="en-US" sz="1250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749040" y="4142232"/>
            <a:ext cx="164592" cy="164592"/>
          </a:xfrm>
          <a:prstGeom prst="ellipse">
            <a:avLst/>
          </a:prstGeom>
          <a:solidFill>
            <a:srgbClr val="3B8EA5"/>
          </a:solidFill>
        </p:spPr>
      </p:sp>
      <p:sp>
        <p:nvSpPr>
          <p:cNvPr id="28" name="Text 26"/>
          <p:cNvSpPr/>
          <p:nvPr/>
        </p:nvSpPr>
        <p:spPr>
          <a:xfrm>
            <a:off x="4023360" y="4105656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Bronze, Silver and Gold transformations in Week 3</a:t>
            </a:r>
            <a:endParaRPr lang="en-US" sz="1250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3F0EB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Flowchart</a:t>
            </a:r>
            <a:endParaRPr lang="en-US" sz="2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694944"/>
            <a:ext cx="1481328" cy="960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694944"/>
            <a:ext cx="1481328" cy="182880"/>
          </a:xfrm>
          <a:prstGeom prst="rect">
            <a:avLst/>
          </a:prstGeom>
          <a:solidFill>
            <a:srgbClr val="3B8EA5"/>
          </a:solidFill>
        </p:spPr>
      </p:sp>
      <p:sp>
        <p:nvSpPr>
          <p:cNvPr id="10" name="Text 8"/>
          <p:cNvSpPr/>
          <p:nvPr/>
        </p:nvSpPr>
        <p:spPr>
          <a:xfrm>
            <a:off x="274320" y="90525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EA5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Phase 1</a:t>
            </a:r>
            <a:endParaRPr lang="en-US" sz="800" b="1" dirty="0">
              <a:solidFill>
                <a:srgbClr val="3B8EA5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106070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HMS Database</a:t>
            </a:r>
            <a:endParaRPr lang="en-US" sz="11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" y="12984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hms_db · MySQL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5 tables,using hms_populate.py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01952" y="694944"/>
            <a:ext cx="1481328" cy="960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01952" y="694944"/>
            <a:ext cx="1481328" cy="182880"/>
          </a:xfrm>
          <a:prstGeom prst="rect">
            <a:avLst/>
          </a:prstGeom>
          <a:solidFill>
            <a:srgbClr val="3B8EA5"/>
          </a:solidFill>
        </p:spPr>
      </p:sp>
      <p:sp>
        <p:nvSpPr>
          <p:cNvPr id="17" name="Text 15"/>
          <p:cNvSpPr/>
          <p:nvPr/>
        </p:nvSpPr>
        <p:spPr>
          <a:xfrm>
            <a:off x="1975104" y="90525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EA5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Phase 2</a:t>
            </a:r>
            <a:endParaRPr lang="en-US" sz="800" b="1" dirty="0">
              <a:solidFill>
                <a:srgbClr val="3B8EA5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75104" y="106070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CSV Files</a:t>
            </a:r>
            <a:endParaRPr lang="en-US" sz="11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975104" y="12984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landing/incoming/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5 files extracted from python code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02736" y="694944"/>
            <a:ext cx="1481328" cy="960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02736" y="694944"/>
            <a:ext cx="1481328" cy="182880"/>
          </a:xfrm>
          <a:prstGeom prst="rect">
            <a:avLst/>
          </a:prstGeom>
          <a:solidFill>
            <a:srgbClr val="3B8EA5"/>
          </a:solidFill>
        </p:spPr>
      </p:sp>
      <p:sp>
        <p:nvSpPr>
          <p:cNvPr id="24" name="Text 22"/>
          <p:cNvSpPr/>
          <p:nvPr/>
        </p:nvSpPr>
        <p:spPr>
          <a:xfrm>
            <a:off x="3675888" y="90525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EA5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Phase 3</a:t>
            </a:r>
            <a:endParaRPr lang="en-US" sz="800" b="1" dirty="0">
              <a:solidFill>
                <a:srgbClr val="3B8EA5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75888" y="106070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Staging MySQL</a:t>
            </a:r>
            <a:endParaRPr lang="en-US" sz="11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75888" y="12984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stg_ tables,through pentaho job,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6 audit columns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03520" y="694944"/>
            <a:ext cx="1481328" cy="960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03520" y="694944"/>
            <a:ext cx="1481328" cy="182880"/>
          </a:xfrm>
          <a:prstGeom prst="rect">
            <a:avLst/>
          </a:prstGeom>
          <a:solidFill>
            <a:srgbClr val="6BAA8E"/>
          </a:solidFill>
        </p:spPr>
      </p:sp>
      <p:sp>
        <p:nvSpPr>
          <p:cNvPr id="31" name="Text 29"/>
          <p:cNvSpPr/>
          <p:nvPr/>
        </p:nvSpPr>
        <p:spPr>
          <a:xfrm>
            <a:off x="5376672" y="90525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AA8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Phase 4</a:t>
            </a:r>
            <a:endParaRPr lang="en-US" sz="800" b="1" dirty="0">
              <a:solidFill>
                <a:srgbClr val="6BAA8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76672" y="106070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MySQL Views</a:t>
            </a:r>
            <a:endParaRPr lang="en-US" sz="11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76672" y="12984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vw_ views are created in mysql based on the requirements given </a:t>
            </a:r>
            <a:endParaRPr lang="en-US" sz="78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004304" y="694944"/>
            <a:ext cx="1481328" cy="960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04304" y="694944"/>
            <a:ext cx="1481328" cy="182880"/>
          </a:xfrm>
          <a:prstGeom prst="rect">
            <a:avLst/>
          </a:prstGeom>
          <a:solidFill>
            <a:srgbClr val="6BAA8E"/>
          </a:solidFill>
        </p:spPr>
      </p:sp>
      <p:sp>
        <p:nvSpPr>
          <p:cNvPr id="38" name="Text 36"/>
          <p:cNvSpPr/>
          <p:nvPr/>
        </p:nvSpPr>
        <p:spPr>
          <a:xfrm>
            <a:off x="7077456" y="90525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AA8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Phase 5</a:t>
            </a:r>
            <a:endParaRPr lang="en-US" sz="800" b="1" dirty="0">
              <a:solidFill>
                <a:srgbClr val="6BAA8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77456" y="106070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Pentaho PDI</a:t>
            </a:r>
            <a:endParaRPr lang="en-US" sz="11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77456" y="12984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reads views in pentaho job and 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exports CSV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01168" y="2816352"/>
            <a:ext cx="1481328" cy="960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01168" y="2816352"/>
            <a:ext cx="1481328" cy="182880"/>
          </a:xfrm>
          <a:prstGeom prst="rect">
            <a:avLst/>
          </a:prstGeom>
          <a:solidFill>
            <a:srgbClr val="6BAA8E"/>
          </a:solidFill>
        </p:spPr>
      </p:sp>
      <p:sp>
        <p:nvSpPr>
          <p:cNvPr id="48" name="Shape 46"/>
          <p:cNvSpPr/>
          <p:nvPr/>
        </p:nvSpPr>
        <p:spPr>
          <a:xfrm>
            <a:off x="1901952" y="2816352"/>
            <a:ext cx="1481328" cy="960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901952" y="2816352"/>
            <a:ext cx="1481328" cy="182880"/>
          </a:xfrm>
          <a:prstGeom prst="rect">
            <a:avLst/>
          </a:prstGeom>
          <a:solidFill>
            <a:srgbClr val="6BAA8E"/>
          </a:solidFill>
        </p:spPr>
      </p:sp>
      <p:sp>
        <p:nvSpPr>
          <p:cNvPr id="53" name="Text 51"/>
          <p:cNvSpPr/>
          <p:nvPr/>
        </p:nvSpPr>
        <p:spPr>
          <a:xfrm>
            <a:off x="247269" y="318211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Databricks Vol.</a:t>
            </a:r>
            <a:endParaRPr lang="en-US" sz="11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47269" y="341985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/Volumes/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healthcare/raw/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602736" y="2816352"/>
            <a:ext cx="1481328" cy="960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602736" y="2816352"/>
            <a:ext cx="1481328" cy="182880"/>
          </a:xfrm>
          <a:prstGeom prst="rect">
            <a:avLst/>
          </a:prstGeom>
          <a:solidFill>
            <a:srgbClr val="E07B39"/>
          </a:solidFill>
        </p:spPr>
      </p:sp>
      <p:sp>
        <p:nvSpPr>
          <p:cNvPr id="59" name="Text 57"/>
          <p:cNvSpPr/>
          <p:nvPr/>
        </p:nvSpPr>
        <p:spPr>
          <a:xfrm>
            <a:off x="3675888" y="302666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7B39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Phase 7</a:t>
            </a:r>
            <a:endParaRPr lang="en-US" sz="800" b="1" dirty="0">
              <a:solidFill>
                <a:srgbClr val="E07B39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3675888" y="318211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Silver Layer</a:t>
            </a:r>
            <a:endParaRPr lang="en-US" sz="11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675888" y="341985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clean · cast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dedup · quarantine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303520" y="2816352"/>
            <a:ext cx="1481328" cy="960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5303520" y="2816352"/>
            <a:ext cx="1481328" cy="182880"/>
          </a:xfrm>
          <a:prstGeom prst="rect">
            <a:avLst/>
          </a:prstGeom>
          <a:solidFill>
            <a:srgbClr val="E07B39"/>
          </a:solidFill>
        </p:spPr>
      </p:sp>
      <p:sp>
        <p:nvSpPr>
          <p:cNvPr id="66" name="Text 64"/>
          <p:cNvSpPr/>
          <p:nvPr/>
        </p:nvSpPr>
        <p:spPr>
          <a:xfrm>
            <a:off x="5376672" y="302666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7B39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Phase 8</a:t>
            </a:r>
            <a:endParaRPr lang="en-US" sz="800" b="1" dirty="0">
              <a:solidFill>
                <a:srgbClr val="E07B39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5376672" y="318211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Gold Layer</a:t>
            </a:r>
            <a:endParaRPr lang="en-US" sz="11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5376672" y="341985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4 business tables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aggregated metrics</a:t>
            </a:r>
            <a:endParaRPr lang="en-US" sz="7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8074152" y="2843784"/>
            <a:ext cx="347472" cy="146304"/>
          </a:xfrm>
          <a:prstGeom prst="rect">
            <a:avLst/>
          </a:prstGeom>
          <a:solidFill>
            <a:srgbClr val="FFFFFF">
              <a:alpha val="70000"/>
            </a:srgbClr>
          </a:solidFill>
        </p:spPr>
      </p:sp>
      <p:sp>
        <p:nvSpPr>
          <p:cNvPr id="72" name="Text 70"/>
          <p:cNvSpPr/>
          <p:nvPr/>
        </p:nvSpPr>
        <p:spPr>
          <a:xfrm>
            <a:off x="8074152" y="2852928"/>
            <a:ext cx="347472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W3</a:t>
            </a:r>
            <a:endParaRPr lang="en-US" sz="7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709928" y="1165860"/>
            <a:ext cx="164592" cy="0"/>
          </a:xfrm>
          <a:prstGeom prst="line">
            <a:avLst/>
          </a:prstGeom>
          <a:noFill/>
          <a:ln w="22860">
            <a:solidFill>
              <a:srgbClr val="3B8EA5"/>
            </a:solidFill>
            <a:prstDash val="solid"/>
            <a:tailEnd type="arrow"/>
          </a:ln>
        </p:spPr>
      </p:sp>
      <p:sp>
        <p:nvSpPr>
          <p:cNvPr id="77" name="Shape 75"/>
          <p:cNvSpPr/>
          <p:nvPr/>
        </p:nvSpPr>
        <p:spPr>
          <a:xfrm>
            <a:off x="3410712" y="1165860"/>
            <a:ext cx="164592" cy="0"/>
          </a:xfrm>
          <a:prstGeom prst="line">
            <a:avLst/>
          </a:prstGeom>
          <a:noFill/>
          <a:ln w="22860">
            <a:solidFill>
              <a:srgbClr val="3B8EA5"/>
            </a:solidFill>
            <a:prstDash val="solid"/>
            <a:tailEnd type="arrow"/>
          </a:ln>
        </p:spPr>
      </p:sp>
      <p:sp>
        <p:nvSpPr>
          <p:cNvPr id="78" name="Shape 76"/>
          <p:cNvSpPr/>
          <p:nvPr/>
        </p:nvSpPr>
        <p:spPr>
          <a:xfrm>
            <a:off x="5111496" y="1165860"/>
            <a:ext cx="164592" cy="0"/>
          </a:xfrm>
          <a:prstGeom prst="line">
            <a:avLst/>
          </a:prstGeom>
          <a:noFill/>
          <a:ln w="22860">
            <a:solidFill>
              <a:srgbClr val="3B8EA5"/>
            </a:solidFill>
            <a:prstDash val="solid"/>
            <a:tailEnd type="arrow"/>
          </a:ln>
        </p:spPr>
      </p:sp>
      <p:sp>
        <p:nvSpPr>
          <p:cNvPr id="79" name="Shape 77"/>
          <p:cNvSpPr/>
          <p:nvPr/>
        </p:nvSpPr>
        <p:spPr>
          <a:xfrm>
            <a:off x="6812280" y="1165860"/>
            <a:ext cx="164592" cy="0"/>
          </a:xfrm>
          <a:prstGeom prst="line">
            <a:avLst/>
          </a:prstGeom>
          <a:noFill/>
          <a:ln w="22860">
            <a:solidFill>
              <a:srgbClr val="3B8EA5"/>
            </a:solidFill>
            <a:prstDash val="solid"/>
            <a:tailEnd type="arrow"/>
          </a:ln>
        </p:spPr>
      </p:sp>
      <p:sp>
        <p:nvSpPr>
          <p:cNvPr id="84" name="Shape 82"/>
          <p:cNvSpPr/>
          <p:nvPr/>
        </p:nvSpPr>
        <p:spPr>
          <a:xfrm rot="10620000">
            <a:off x="1682115" y="3288030"/>
            <a:ext cx="192405" cy="635"/>
          </a:xfrm>
          <a:prstGeom prst="line">
            <a:avLst/>
          </a:prstGeom>
          <a:noFill/>
          <a:ln w="22860">
            <a:solidFill>
              <a:srgbClr val="E07B39"/>
            </a:solidFill>
            <a:prstDash val="solid"/>
            <a:headEnd type="arrow"/>
            <a:tailEnd type="none"/>
          </a:ln>
        </p:spPr>
      </p:sp>
      <p:sp>
        <p:nvSpPr>
          <p:cNvPr id="94" name="Shape 82"/>
          <p:cNvSpPr/>
          <p:nvPr/>
        </p:nvSpPr>
        <p:spPr>
          <a:xfrm rot="10620000">
            <a:off x="3406140" y="3288665"/>
            <a:ext cx="196850" cy="8255"/>
          </a:xfrm>
          <a:prstGeom prst="line">
            <a:avLst/>
          </a:prstGeom>
          <a:noFill/>
          <a:ln w="22860">
            <a:solidFill>
              <a:srgbClr val="E07B39"/>
            </a:solidFill>
            <a:prstDash val="solid"/>
            <a:headEnd type="arrow"/>
            <a:tailEnd type="none"/>
          </a:ln>
        </p:spPr>
      </p:sp>
      <p:sp>
        <p:nvSpPr>
          <p:cNvPr id="97" name="Shape 82"/>
          <p:cNvSpPr/>
          <p:nvPr/>
        </p:nvSpPr>
        <p:spPr>
          <a:xfrm rot="10620000">
            <a:off x="5111115" y="3289300"/>
            <a:ext cx="192405" cy="16510"/>
          </a:xfrm>
          <a:prstGeom prst="line">
            <a:avLst/>
          </a:prstGeom>
          <a:noFill/>
          <a:ln w="22860">
            <a:solidFill>
              <a:srgbClr val="E07B39"/>
            </a:solidFill>
            <a:prstDash val="solid"/>
            <a:headEnd type="arrow"/>
            <a:tailEnd type="none"/>
          </a:ln>
        </p:spPr>
      </p:sp>
      <p:cxnSp>
        <p:nvCxnSpPr>
          <p:cNvPr id="100" name="Straight Arrow Connector 99"/>
          <p:cNvCxnSpPr/>
          <p:nvPr/>
        </p:nvCxnSpPr>
        <p:spPr>
          <a:xfrm>
            <a:off x="1021080" y="2232025"/>
            <a:ext cx="0" cy="58420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0" idx="2"/>
          </p:cNvCxnSpPr>
          <p:nvPr/>
        </p:nvCxnSpPr>
        <p:spPr>
          <a:xfrm flipH="1">
            <a:off x="7759700" y="1618615"/>
            <a:ext cx="3810" cy="620395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1021080" y="2225675"/>
            <a:ext cx="6751955" cy="13335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3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545" y="3026410"/>
            <a:ext cx="1371600" cy="182880"/>
          </a:xfrm>
          <a:prstGeom prst="rect">
            <a:avLst/>
          </a:prstGeom>
        </p:spPr>
      </p:pic>
      <p:pic>
        <p:nvPicPr>
          <p:cNvPr id="104" name="Pictur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5" y="3026410"/>
            <a:ext cx="1371600" cy="182880"/>
          </a:xfrm>
          <a:prstGeom prst="rect">
            <a:avLst/>
          </a:prstGeom>
        </p:spPr>
      </p:pic>
      <p:sp>
        <p:nvSpPr>
          <p:cNvPr id="106" name="Text 44"/>
          <p:cNvSpPr/>
          <p:nvPr/>
        </p:nvSpPr>
        <p:spPr>
          <a:xfrm>
            <a:off x="1947545" y="3209417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Bronze Layer</a:t>
            </a:r>
            <a:endParaRPr lang="en-US" sz="11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947545" y="3456051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all strings format no chaneg of data.</a:t>
            </a:r>
            <a:endParaRPr lang="en-US" sz="78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3F0EB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My 3-Week Plan</a:t>
            </a:r>
            <a:endParaRPr lang="en-US" sz="22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749808"/>
            <a:ext cx="2761488" cy="475488"/>
          </a:xfrm>
          <a:prstGeom prst="rect">
            <a:avLst/>
          </a:prstGeom>
          <a:solidFill>
            <a:srgbClr val="3B8EA5"/>
          </a:solidFill>
        </p:spPr>
      </p:sp>
      <p:sp>
        <p:nvSpPr>
          <p:cNvPr id="7" name="Text 5"/>
          <p:cNvSpPr/>
          <p:nvPr/>
        </p:nvSpPr>
        <p:spPr>
          <a:xfrm>
            <a:off x="310896" y="795528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Week 1</a:t>
            </a:r>
            <a:endParaRPr lang="en-US" sz="17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1295" y="1271270"/>
            <a:ext cx="2761615" cy="3162935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" y="1472184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HMS Schema Design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2608" y="1673352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Create hms_db with all 5 tables — patients, doctors, visits, treatments, claims. Set up all constraints: PKs, FKs, ENUMs, CHECK.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1295" y="2089150"/>
            <a:ext cx="2761615" cy="7366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2608" y="2276856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Data Population Script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2608" y="2478024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Write hms_populate.py using Faker. Generate rows with the 6 real-world imperfections intentionally.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1168" y="2880360"/>
            <a:ext cx="2761488" cy="74980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" y="3081528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PDI Extraction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92608" y="3282696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create pentaho job — export 5 CSVs to MySql workbench with table output. 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01168" y="3685032"/>
            <a:ext cx="2761488" cy="74980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92608" y="3886200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Staging Load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92608" y="408736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load CSVs into stg_ tables in healthcarex_wkb with audit columns + batch_id.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01168" y="4544568"/>
            <a:ext cx="2761488" cy="256032"/>
          </a:xfrm>
          <a:prstGeom prst="rect">
            <a:avLst/>
          </a:prstGeom>
          <a:solidFill>
            <a:srgbClr val="3B8EA5">
              <a:alpha val="12000"/>
            </a:srgbClr>
          </a:solidFill>
          <a:ln w="10160">
            <a:solidFill>
              <a:srgbClr val="3B8E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4590288"/>
            <a:ext cx="26243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3B8EA5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Goal: All Python scripts working + 5 clean CSVs ready</a:t>
            </a:r>
            <a:endParaRPr lang="en-US" sz="780" b="1" dirty="0">
              <a:solidFill>
                <a:srgbClr val="3B8EA5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090672" y="749808"/>
            <a:ext cx="2761488" cy="475488"/>
          </a:xfrm>
          <a:prstGeom prst="rect">
            <a:avLst/>
          </a:prstGeom>
          <a:solidFill>
            <a:srgbClr val="6BAA8E"/>
          </a:solidFill>
        </p:spPr>
      </p:sp>
      <p:sp>
        <p:nvSpPr>
          <p:cNvPr id="32" name="Text 30"/>
          <p:cNvSpPr/>
          <p:nvPr/>
        </p:nvSpPr>
        <p:spPr>
          <a:xfrm>
            <a:off x="3200400" y="795528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Week 2</a:t>
            </a:r>
            <a:endParaRPr lang="en-US" sz="17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090545" y="1271270"/>
            <a:ext cx="2761615" cy="3155315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182112" y="1472184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MySQL Views 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182112" y="1673352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Create 5 vv_ views in healthcarex_wkb — This is what Pentaho reads.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090545" y="2063750"/>
            <a:ext cx="2728595" cy="7620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182112" y="2276856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Pentaho PDI Job 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182112" y="2478024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Build 5 .ktr transformations + 1 .kjb job. Connect to MySQL views, export to workbench/output/ as CSVs.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090545" y="2896870"/>
            <a:ext cx="2729230" cy="733425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182112" y="3081528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Upload to Databricks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182112" y="3282696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Transfer workbench/output/ CSVs into /Volumes/healthcare/raw/ on Databricks.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090545" y="3679190"/>
            <a:ext cx="2761615" cy="75565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182112" y="3886200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Bronze Layer 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182112" y="408736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Ingest CSVs into Delta tables — all columns as STRING, no transforms. 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3090672" y="4544568"/>
            <a:ext cx="2761488" cy="256032"/>
          </a:xfrm>
          <a:prstGeom prst="rect">
            <a:avLst/>
          </a:prstGeom>
          <a:solidFill>
            <a:srgbClr val="6BAA8E">
              <a:alpha val="12000"/>
            </a:srgbClr>
          </a:solidFill>
          <a:ln w="10160">
            <a:solidFill>
              <a:srgbClr val="6BAA8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82112" y="4590288"/>
            <a:ext cx="26243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BAA8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Goal: Client side complete + Bronze loaded in Databricks</a:t>
            </a:r>
            <a:endParaRPr lang="en-US" sz="780" b="1" dirty="0">
              <a:solidFill>
                <a:srgbClr val="6BAA8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980176" y="749808"/>
            <a:ext cx="2761488" cy="475488"/>
          </a:xfrm>
          <a:prstGeom prst="rect">
            <a:avLst/>
          </a:prstGeom>
          <a:solidFill>
            <a:srgbClr val="E07B39"/>
          </a:solidFill>
        </p:spPr>
      </p:sp>
      <p:sp>
        <p:nvSpPr>
          <p:cNvPr id="57" name="Text 55"/>
          <p:cNvSpPr/>
          <p:nvPr/>
        </p:nvSpPr>
        <p:spPr>
          <a:xfrm>
            <a:off x="6089904" y="795528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Week 3</a:t>
            </a:r>
            <a:endParaRPr lang="en-US" sz="17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980430" y="1271270"/>
            <a:ext cx="2773680" cy="3162935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071616" y="1472184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Silver Layer 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071616" y="1673352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Apply all 9 cleaning rules — trim, dedup, type casting, quarantine bad rows.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980176" y="2075688"/>
            <a:ext cx="2761488" cy="74980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071616" y="2276856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Gold Layer 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071616" y="2478024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Build 4 business tables: doctor claims, patient costs, daily visits, insurer performance.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5980176" y="2880360"/>
            <a:ext cx="2761488" cy="74980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071616" y="3081528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Orchestration 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071616" y="3282696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Set up pipeline_run_log, alerts, and 9-step DAG.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5980176" y="3685032"/>
            <a:ext cx="2761488" cy="74980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071616" y="3886200"/>
            <a:ext cx="2624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Q&amp;A, Docs + Submission</a:t>
            </a:r>
            <a:endParaRPr lang="en-US" sz="1000" b="1" dirty="0">
              <a:solidFill>
                <a:srgbClr val="2D3A4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6071616" y="408736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B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Answer all questions, Documentation.</a:t>
            </a:r>
            <a:endParaRPr lang="en-US" sz="750" dirty="0">
              <a:solidFill>
                <a:srgbClr val="8A9BB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5980176" y="4544568"/>
            <a:ext cx="2761488" cy="256032"/>
          </a:xfrm>
          <a:prstGeom prst="rect">
            <a:avLst/>
          </a:prstGeom>
          <a:solidFill>
            <a:srgbClr val="E07B39">
              <a:alpha val="12000"/>
            </a:srgbClr>
          </a:solidFill>
          <a:ln w="10160">
            <a:solidFill>
              <a:srgbClr val="E07B3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71616" y="4590288"/>
            <a:ext cx="26243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07B39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Goal: Full pipeline running + documentation submitted</a:t>
            </a:r>
            <a:endParaRPr lang="en-US" sz="780" b="1" dirty="0">
              <a:solidFill>
                <a:srgbClr val="E07B39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2195</Words>
  <Application>WPS Presentation</Application>
  <PresentationFormat>On-screen Show (16:9)</PresentationFormat>
  <Paragraphs>149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HealthCareX — My 3-Week Workflow Plan</dc:title>
  <dc:creator>PptxGenJS</dc:creator>
  <dc:subject>PptxGenJS Presentation</dc:subject>
  <cp:lastModifiedBy>05 Swapna</cp:lastModifiedBy>
  <cp:revision>4</cp:revision>
  <dcterms:created xsi:type="dcterms:W3CDTF">2026-03-25T16:14:00Z</dcterms:created>
  <dcterms:modified xsi:type="dcterms:W3CDTF">2026-03-25T18:20:46Z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D7BAAF2B059145908FC82053615F5578_12</vt:lpwstr>
  </property>
  <property fmtid="{D5CDD505-2E9C-101B-9397-08002B2CF9AE}" pid="3" name="KSOProductBuildVer">
    <vt:lpwstr>1033-12.2.0.23196</vt:lpwstr>
  </property>
</Properties>
</file>